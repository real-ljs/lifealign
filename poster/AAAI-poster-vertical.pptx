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930366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6" d="100"/>
          <a:sy n="16" d="100"/>
        </p:scale>
        <p:origin x="14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7775" y="7005156"/>
            <a:ext cx="24908114" cy="14902051"/>
          </a:xfrm>
        </p:spPr>
        <p:txBody>
          <a:bodyPr anchor="b"/>
          <a:lstStyle>
            <a:lvl1pPr algn="ctr">
              <a:defRPr sz="192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62958" y="22481887"/>
            <a:ext cx="21977747" cy="10334331"/>
          </a:xfrm>
        </p:spPr>
        <p:txBody>
          <a:bodyPr/>
          <a:lstStyle>
            <a:lvl1pPr marL="0" indent="0" algn="ctr">
              <a:buNone/>
              <a:defRPr sz="7691"/>
            </a:lvl1pPr>
            <a:lvl2pPr marL="1465189" indent="0" algn="ctr">
              <a:buNone/>
              <a:defRPr sz="6409"/>
            </a:lvl2pPr>
            <a:lvl3pPr marL="2930378" indent="0" algn="ctr">
              <a:buNone/>
              <a:defRPr sz="5768"/>
            </a:lvl3pPr>
            <a:lvl4pPr marL="4395567" indent="0" algn="ctr">
              <a:buNone/>
              <a:defRPr sz="5128"/>
            </a:lvl4pPr>
            <a:lvl5pPr marL="5860755" indent="0" algn="ctr">
              <a:buNone/>
              <a:defRPr sz="5128"/>
            </a:lvl5pPr>
            <a:lvl6pPr marL="7325944" indent="0" algn="ctr">
              <a:buNone/>
              <a:defRPr sz="5128"/>
            </a:lvl6pPr>
            <a:lvl7pPr marL="8791133" indent="0" algn="ctr">
              <a:buNone/>
              <a:defRPr sz="5128"/>
            </a:lvl7pPr>
            <a:lvl8pPr marL="10256322" indent="0" algn="ctr">
              <a:buNone/>
              <a:defRPr sz="5128"/>
            </a:lvl8pPr>
            <a:lvl9pPr marL="11721511" indent="0" algn="ctr">
              <a:buNone/>
              <a:defRPr sz="512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33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51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366" y="10671229"/>
            <a:ext cx="25274409" cy="17805173"/>
          </a:xfrm>
        </p:spPr>
        <p:txBody>
          <a:bodyPr anchor="b"/>
          <a:lstStyle>
            <a:lvl1pPr>
              <a:defRPr sz="192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9366" y="28644846"/>
            <a:ext cx="25274409" cy="9363320"/>
          </a:xfrm>
        </p:spPr>
        <p:txBody>
          <a:bodyPr/>
          <a:lstStyle>
            <a:lvl1pPr marL="0" indent="0">
              <a:buNone/>
              <a:defRPr sz="7691">
                <a:solidFill>
                  <a:schemeClr val="tx1"/>
                </a:solidFill>
              </a:defRPr>
            </a:lvl1pPr>
            <a:lvl2pPr marL="1465189" indent="0">
              <a:buNone/>
              <a:defRPr sz="6409">
                <a:solidFill>
                  <a:schemeClr val="tx1">
                    <a:tint val="75000"/>
                  </a:schemeClr>
                </a:solidFill>
              </a:defRPr>
            </a:lvl2pPr>
            <a:lvl3pPr marL="2930378" indent="0">
              <a:buNone/>
              <a:defRPr sz="5768">
                <a:solidFill>
                  <a:schemeClr val="tx1">
                    <a:tint val="75000"/>
                  </a:schemeClr>
                </a:solidFill>
              </a:defRPr>
            </a:lvl3pPr>
            <a:lvl4pPr marL="4395567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4pPr>
            <a:lvl5pPr marL="5860755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5pPr>
            <a:lvl6pPr marL="7325944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6pPr>
            <a:lvl7pPr marL="8791133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7pPr>
            <a:lvl8pPr marL="10256322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8pPr>
            <a:lvl9pPr marL="11721511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68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4627" y="11394520"/>
            <a:ext cx="12454057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34979" y="11394520"/>
            <a:ext cx="12454057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92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444" y="2278913"/>
            <a:ext cx="25274409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8447" y="10492870"/>
            <a:ext cx="12396821" cy="5142393"/>
          </a:xfrm>
        </p:spPr>
        <p:txBody>
          <a:bodyPr anchor="b"/>
          <a:lstStyle>
            <a:lvl1pPr marL="0" indent="0">
              <a:buNone/>
              <a:defRPr sz="7691" b="1"/>
            </a:lvl1pPr>
            <a:lvl2pPr marL="1465189" indent="0">
              <a:buNone/>
              <a:defRPr sz="6409" b="1"/>
            </a:lvl2pPr>
            <a:lvl3pPr marL="2930378" indent="0">
              <a:buNone/>
              <a:defRPr sz="5768" b="1"/>
            </a:lvl3pPr>
            <a:lvl4pPr marL="4395567" indent="0">
              <a:buNone/>
              <a:defRPr sz="5128" b="1"/>
            </a:lvl4pPr>
            <a:lvl5pPr marL="5860755" indent="0">
              <a:buNone/>
              <a:defRPr sz="5128" b="1"/>
            </a:lvl5pPr>
            <a:lvl6pPr marL="7325944" indent="0">
              <a:buNone/>
              <a:defRPr sz="5128" b="1"/>
            </a:lvl6pPr>
            <a:lvl7pPr marL="8791133" indent="0">
              <a:buNone/>
              <a:defRPr sz="5128" b="1"/>
            </a:lvl7pPr>
            <a:lvl8pPr marL="10256322" indent="0">
              <a:buNone/>
              <a:defRPr sz="5128" b="1"/>
            </a:lvl8pPr>
            <a:lvl9pPr marL="11721511" indent="0">
              <a:buNone/>
              <a:defRPr sz="51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8447" y="15635264"/>
            <a:ext cx="12396821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34981" y="10492870"/>
            <a:ext cx="12457874" cy="5142393"/>
          </a:xfrm>
        </p:spPr>
        <p:txBody>
          <a:bodyPr anchor="b"/>
          <a:lstStyle>
            <a:lvl1pPr marL="0" indent="0">
              <a:buNone/>
              <a:defRPr sz="7691" b="1"/>
            </a:lvl1pPr>
            <a:lvl2pPr marL="1465189" indent="0">
              <a:buNone/>
              <a:defRPr sz="6409" b="1"/>
            </a:lvl2pPr>
            <a:lvl3pPr marL="2930378" indent="0">
              <a:buNone/>
              <a:defRPr sz="5768" b="1"/>
            </a:lvl3pPr>
            <a:lvl4pPr marL="4395567" indent="0">
              <a:buNone/>
              <a:defRPr sz="5128" b="1"/>
            </a:lvl4pPr>
            <a:lvl5pPr marL="5860755" indent="0">
              <a:buNone/>
              <a:defRPr sz="5128" b="1"/>
            </a:lvl5pPr>
            <a:lvl6pPr marL="7325944" indent="0">
              <a:buNone/>
              <a:defRPr sz="5128" b="1"/>
            </a:lvl6pPr>
            <a:lvl7pPr marL="8791133" indent="0">
              <a:buNone/>
              <a:defRPr sz="5128" b="1"/>
            </a:lvl7pPr>
            <a:lvl8pPr marL="10256322" indent="0">
              <a:buNone/>
              <a:defRPr sz="5128" b="1"/>
            </a:lvl8pPr>
            <a:lvl9pPr marL="11721511" indent="0">
              <a:buNone/>
              <a:defRPr sz="51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34981" y="15635264"/>
            <a:ext cx="12457874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34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3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6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444" y="2853584"/>
            <a:ext cx="9451194" cy="9987545"/>
          </a:xfrm>
        </p:spPr>
        <p:txBody>
          <a:bodyPr anchor="b"/>
          <a:lstStyle>
            <a:lvl1pPr>
              <a:defRPr sz="102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7874" y="6162959"/>
            <a:ext cx="14834979" cy="30418415"/>
          </a:xfrm>
        </p:spPr>
        <p:txBody>
          <a:bodyPr/>
          <a:lstStyle>
            <a:lvl1pPr>
              <a:defRPr sz="10255"/>
            </a:lvl1pPr>
            <a:lvl2pPr>
              <a:defRPr sz="8973"/>
            </a:lvl2pPr>
            <a:lvl3pPr>
              <a:defRPr sz="7691"/>
            </a:lvl3pPr>
            <a:lvl4pPr>
              <a:defRPr sz="6409"/>
            </a:lvl4pPr>
            <a:lvl5pPr>
              <a:defRPr sz="6409"/>
            </a:lvl5pPr>
            <a:lvl6pPr>
              <a:defRPr sz="6409"/>
            </a:lvl6pPr>
            <a:lvl7pPr>
              <a:defRPr sz="6409"/>
            </a:lvl7pPr>
            <a:lvl8pPr>
              <a:defRPr sz="6409"/>
            </a:lvl8pPr>
            <a:lvl9pPr>
              <a:defRPr sz="640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8444" y="12841129"/>
            <a:ext cx="9451194" cy="23789780"/>
          </a:xfrm>
        </p:spPr>
        <p:txBody>
          <a:bodyPr/>
          <a:lstStyle>
            <a:lvl1pPr marL="0" indent="0">
              <a:buNone/>
              <a:defRPr sz="5128"/>
            </a:lvl1pPr>
            <a:lvl2pPr marL="1465189" indent="0">
              <a:buNone/>
              <a:defRPr sz="4487"/>
            </a:lvl2pPr>
            <a:lvl3pPr marL="2930378" indent="0">
              <a:buNone/>
              <a:defRPr sz="3846"/>
            </a:lvl3pPr>
            <a:lvl4pPr marL="4395567" indent="0">
              <a:buNone/>
              <a:defRPr sz="3205"/>
            </a:lvl4pPr>
            <a:lvl5pPr marL="5860755" indent="0">
              <a:buNone/>
              <a:defRPr sz="3205"/>
            </a:lvl5pPr>
            <a:lvl6pPr marL="7325944" indent="0">
              <a:buNone/>
              <a:defRPr sz="3205"/>
            </a:lvl6pPr>
            <a:lvl7pPr marL="8791133" indent="0">
              <a:buNone/>
              <a:defRPr sz="3205"/>
            </a:lvl7pPr>
            <a:lvl8pPr marL="10256322" indent="0">
              <a:buNone/>
              <a:defRPr sz="3205"/>
            </a:lvl8pPr>
            <a:lvl9pPr marL="11721511" indent="0">
              <a:buNone/>
              <a:defRPr sz="3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42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444" y="2853584"/>
            <a:ext cx="9451194" cy="9987545"/>
          </a:xfrm>
        </p:spPr>
        <p:txBody>
          <a:bodyPr anchor="b"/>
          <a:lstStyle>
            <a:lvl1pPr>
              <a:defRPr sz="102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57874" y="6162959"/>
            <a:ext cx="14834979" cy="30418415"/>
          </a:xfrm>
        </p:spPr>
        <p:txBody>
          <a:bodyPr anchor="t"/>
          <a:lstStyle>
            <a:lvl1pPr marL="0" indent="0">
              <a:buNone/>
              <a:defRPr sz="10255"/>
            </a:lvl1pPr>
            <a:lvl2pPr marL="1465189" indent="0">
              <a:buNone/>
              <a:defRPr sz="8973"/>
            </a:lvl2pPr>
            <a:lvl3pPr marL="2930378" indent="0">
              <a:buNone/>
              <a:defRPr sz="7691"/>
            </a:lvl3pPr>
            <a:lvl4pPr marL="4395567" indent="0">
              <a:buNone/>
              <a:defRPr sz="6409"/>
            </a:lvl4pPr>
            <a:lvl5pPr marL="5860755" indent="0">
              <a:buNone/>
              <a:defRPr sz="6409"/>
            </a:lvl5pPr>
            <a:lvl6pPr marL="7325944" indent="0">
              <a:buNone/>
              <a:defRPr sz="6409"/>
            </a:lvl6pPr>
            <a:lvl7pPr marL="8791133" indent="0">
              <a:buNone/>
              <a:defRPr sz="6409"/>
            </a:lvl7pPr>
            <a:lvl8pPr marL="10256322" indent="0">
              <a:buNone/>
              <a:defRPr sz="6409"/>
            </a:lvl8pPr>
            <a:lvl9pPr marL="11721511" indent="0">
              <a:buNone/>
              <a:defRPr sz="640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8444" y="12841129"/>
            <a:ext cx="9451194" cy="23789780"/>
          </a:xfrm>
        </p:spPr>
        <p:txBody>
          <a:bodyPr/>
          <a:lstStyle>
            <a:lvl1pPr marL="0" indent="0">
              <a:buNone/>
              <a:defRPr sz="5128"/>
            </a:lvl1pPr>
            <a:lvl2pPr marL="1465189" indent="0">
              <a:buNone/>
              <a:defRPr sz="4487"/>
            </a:lvl2pPr>
            <a:lvl3pPr marL="2930378" indent="0">
              <a:buNone/>
              <a:defRPr sz="3846"/>
            </a:lvl3pPr>
            <a:lvl4pPr marL="4395567" indent="0">
              <a:buNone/>
              <a:defRPr sz="3205"/>
            </a:lvl4pPr>
            <a:lvl5pPr marL="5860755" indent="0">
              <a:buNone/>
              <a:defRPr sz="3205"/>
            </a:lvl5pPr>
            <a:lvl6pPr marL="7325944" indent="0">
              <a:buNone/>
              <a:defRPr sz="3205"/>
            </a:lvl6pPr>
            <a:lvl7pPr marL="8791133" indent="0">
              <a:buNone/>
              <a:defRPr sz="3205"/>
            </a:lvl7pPr>
            <a:lvl8pPr marL="10256322" indent="0">
              <a:buNone/>
              <a:defRPr sz="3205"/>
            </a:lvl8pPr>
            <a:lvl9pPr marL="11721511" indent="0">
              <a:buNone/>
              <a:defRPr sz="3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79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607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70436" y="2278904"/>
            <a:ext cx="6318602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4629" y="2278904"/>
            <a:ext cx="18589511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76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4627" y="2278913"/>
            <a:ext cx="25274409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627" y="11394520"/>
            <a:ext cx="25274409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4627" y="39672756"/>
            <a:ext cx="659332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E3901-7756-430A-A07F-B4A40E18993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06839" y="39672756"/>
            <a:ext cx="9889986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95712" y="39672756"/>
            <a:ext cx="659332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02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30378" rtl="0" eaLnBrk="1" latinLnBrk="0" hangingPunct="1">
        <a:lnSpc>
          <a:spcPct val="90000"/>
        </a:lnSpc>
        <a:spcBef>
          <a:spcPct val="0"/>
        </a:spcBef>
        <a:buNone/>
        <a:defRPr sz="141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2594" indent="-732594" algn="l" defTabSz="2930378" rtl="0" eaLnBrk="1" latinLnBrk="0" hangingPunct="1">
        <a:lnSpc>
          <a:spcPct val="90000"/>
        </a:lnSpc>
        <a:spcBef>
          <a:spcPts val="3205"/>
        </a:spcBef>
        <a:buFont typeface="Arial" panose="020B0604020202020204" pitchFamily="34" charset="0"/>
        <a:buChar char="•"/>
        <a:defRPr sz="8973" kern="1200">
          <a:solidFill>
            <a:schemeClr val="tx1"/>
          </a:solidFill>
          <a:latin typeface="+mn-lt"/>
          <a:ea typeface="+mn-ea"/>
          <a:cs typeface="+mn-cs"/>
        </a:defRPr>
      </a:lvl1pPr>
      <a:lvl2pPr marL="2197783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7691" kern="1200">
          <a:solidFill>
            <a:schemeClr val="tx1"/>
          </a:solidFill>
          <a:latin typeface="+mn-lt"/>
          <a:ea typeface="+mn-ea"/>
          <a:cs typeface="+mn-cs"/>
        </a:defRPr>
      </a:lvl2pPr>
      <a:lvl3pPr marL="3662972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6409" kern="1200">
          <a:solidFill>
            <a:schemeClr val="tx1"/>
          </a:solidFill>
          <a:latin typeface="+mn-lt"/>
          <a:ea typeface="+mn-ea"/>
          <a:cs typeface="+mn-cs"/>
        </a:defRPr>
      </a:lvl3pPr>
      <a:lvl4pPr marL="5128161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4pPr>
      <a:lvl5pPr marL="6593350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5pPr>
      <a:lvl6pPr marL="8058539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6pPr>
      <a:lvl7pPr marL="9523727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7pPr>
      <a:lvl8pPr marL="10988916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8pPr>
      <a:lvl9pPr marL="12454105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1pPr>
      <a:lvl2pPr marL="1465189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2pPr>
      <a:lvl3pPr marL="2930378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3pPr>
      <a:lvl4pPr marL="4395567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4pPr>
      <a:lvl5pPr marL="5860755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5pPr>
      <a:lvl6pPr marL="7325944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6pPr>
      <a:lvl7pPr marL="8791133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7pPr>
      <a:lvl8pPr marL="10256322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8pPr>
      <a:lvl9pPr marL="11721511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>
            <a:extLst>
              <a:ext uri="{FF2B5EF4-FFF2-40B4-BE49-F238E27FC236}">
                <a16:creationId xmlns:a16="http://schemas.microsoft.com/office/drawing/2014/main" id="{33D3BB5B-F6C7-4381-A32A-F197A780E5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840" y="12328155"/>
            <a:ext cx="19626050" cy="1962605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20ED1382-03EB-4F42-B63D-3584E30DA90B}"/>
              </a:ext>
            </a:extLst>
          </p:cNvPr>
          <p:cNvGrpSpPr/>
          <p:nvPr/>
        </p:nvGrpSpPr>
        <p:grpSpPr>
          <a:xfrm>
            <a:off x="0" y="41201223"/>
            <a:ext cx="29303663" cy="1602538"/>
            <a:chOff x="523" y="3292062"/>
            <a:chExt cx="6887114" cy="8903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5FB608D-221E-437F-A7ED-1DB0A78BC890}"/>
                </a:ext>
              </a:extLst>
            </p:cNvPr>
            <p:cNvSpPr/>
            <p:nvPr/>
          </p:nvSpPr>
          <p:spPr>
            <a:xfrm>
              <a:off x="523" y="3292062"/>
              <a:ext cx="6887114" cy="89039"/>
            </a:xfrm>
            <a:prstGeom prst="rect">
              <a:avLst/>
            </a:prstGeom>
            <a:gradFill flip="none" rotWithShape="1">
              <a:gsLst>
                <a:gs pos="100000">
                  <a:schemeClr val="bg1"/>
                </a:gs>
                <a:gs pos="3000">
                  <a:srgbClr val="BCDCDE">
                    <a:alpha val="87843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Shanghai, 200062, China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E3BF872-1297-4F71-A774-3372DCA33EF9}"/>
                </a:ext>
              </a:extLst>
            </p:cNvPr>
            <p:cNvSpPr txBox="1"/>
            <p:nvPr/>
          </p:nvSpPr>
          <p:spPr>
            <a:xfrm>
              <a:off x="5136899" y="3313496"/>
              <a:ext cx="1712375" cy="46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junsong-li@stu.ecnu.edu.cn</a:t>
              </a:r>
              <a:endParaRPr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D2C7188B-338D-41C3-B0EB-E323E3496A50}"/>
              </a:ext>
            </a:extLst>
          </p:cNvPr>
          <p:cNvSpPr/>
          <p:nvPr/>
        </p:nvSpPr>
        <p:spPr>
          <a:xfrm>
            <a:off x="0" y="-138046"/>
            <a:ext cx="29303663" cy="9434446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3000">
                <a:srgbClr val="BCDCDE">
                  <a:alpha val="87843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8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F940BAE-C6D9-41C6-AD51-F27EAA81B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22" y="198055"/>
            <a:ext cx="3829816" cy="3829816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4B7B8CD4-D959-42E8-A057-3AE73675F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760" y="43931"/>
            <a:ext cx="9231040" cy="3873747"/>
          </a:xfrm>
          <a:prstGeom prst="rect">
            <a:avLst/>
          </a:prstGeom>
        </p:spPr>
      </p:pic>
      <p:sp>
        <p:nvSpPr>
          <p:cNvPr id="10" name="TextShape 1">
            <a:extLst>
              <a:ext uri="{FF2B5EF4-FFF2-40B4-BE49-F238E27FC236}">
                <a16:creationId xmlns:a16="http://schemas.microsoft.com/office/drawing/2014/main" id="{A44A92F8-EF4F-49C3-A29C-D70974F9F33C}"/>
              </a:ext>
            </a:extLst>
          </p:cNvPr>
          <p:cNvSpPr txBox="1"/>
          <p:nvPr/>
        </p:nvSpPr>
        <p:spPr>
          <a:xfrm>
            <a:off x="-1" y="3909330"/>
            <a:ext cx="29303663" cy="4301803"/>
          </a:xfrm>
          <a:prstGeom prst="rect">
            <a:avLst/>
          </a:prstGeom>
          <a:noFill/>
          <a:ln>
            <a:noFill/>
          </a:ln>
        </p:spPr>
        <p:txBody>
          <a:bodyPr lIns="61083" tIns="30578" rIns="61083" bIns="30578" anchor="ctr">
            <a:noAutofit/>
          </a:bodyPr>
          <a:lstStyle/>
          <a:p>
            <a:pPr algn="ctr"/>
            <a:r>
              <a:rPr lang="en-US" altLang="zh-CN" sz="6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LifeAlign</a:t>
            </a:r>
            <a:r>
              <a:rPr lang="en-US" altLang="zh-CN" sz="6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Lifelong Alignment for Large Language Models with Memory-Augmented Focalized Preference Optimization</a:t>
            </a:r>
          </a:p>
          <a:p>
            <a:pPr algn="ctr"/>
            <a:r>
              <a:rPr lang="en-US" altLang="zh-CN" sz="4000" b="1" dirty="0" err="1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Junsong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Li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</a:t>
            </a:r>
            <a:r>
              <a:rPr lang="en-US" altLang="zh-CN" sz="4000" b="1" dirty="0" err="1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Jie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Zhou*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</a:t>
            </a:r>
            <a:r>
              <a:rPr lang="en-US" altLang="zh-CN" sz="4000" b="1" dirty="0" err="1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Bihao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Zhan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</a:t>
            </a:r>
            <a:r>
              <a:rPr lang="en-US" altLang="zh-CN" sz="4000" b="1" dirty="0" err="1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Yutao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Yang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</a:t>
            </a:r>
            <a:r>
              <a:rPr lang="en-US" altLang="zh-CN" sz="4000" b="1" dirty="0" err="1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Qianjun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Pan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</a:t>
            </a:r>
          </a:p>
          <a:p>
            <a:pPr algn="ctr"/>
            <a:r>
              <a:rPr lang="en-US" altLang="zh-CN" sz="4000" b="1" dirty="0" err="1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Shilian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Chen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</a:t>
            </a:r>
            <a:r>
              <a:rPr lang="en-US" altLang="zh-CN" sz="4000" b="1" dirty="0" err="1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Tianyu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 Huai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Xin Li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2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Qin Chen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, Liang He</a:t>
            </a:r>
            <a:r>
              <a:rPr lang="en-US" altLang="zh-CN" sz="4000" b="1" baseline="30000" dirty="0">
                <a:solidFill>
                  <a:srgbClr val="000000"/>
                </a:solidFill>
                <a:latin typeface="Comic Sans MS" panose="030F0702030302020204" pitchFamily="66" charset="0"/>
                <a:ea typeface="等线" panose="02010600030101010101" pitchFamily="2" charset="-122"/>
              </a:rPr>
              <a:t>1</a:t>
            </a:r>
            <a:endParaRPr lang="zh-CN" altLang="zh-CN" sz="4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altLang="zh-CN" sz="3600" b="1" baseline="30000" dirty="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CN" sz="3600" b="1" dirty="0">
                <a:solidFill>
                  <a:srgbClr val="000000"/>
                </a:solidFill>
                <a:latin typeface="Comic Sans MS" panose="030F0702030302020204" pitchFamily="66" charset="0"/>
              </a:rPr>
              <a:t>School of Computer Science and Technology, East China Normal University</a:t>
            </a:r>
            <a:endParaRPr lang="zh-CN" altLang="zh-CN" sz="3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altLang="zh-CN" sz="3600" b="1" baseline="30000" dirty="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r>
              <a:rPr lang="en-US" altLang="zh-CN" sz="3600" b="1" dirty="0">
                <a:solidFill>
                  <a:srgbClr val="000000"/>
                </a:solidFill>
                <a:latin typeface="Comic Sans MS" panose="030F0702030302020204" pitchFamily="66" charset="0"/>
              </a:rPr>
              <a:t>Shanghai AI Laboratory</a:t>
            </a:r>
            <a:endParaRPr lang="en-US" sz="3600" b="1" dirty="0">
              <a:latin typeface="Comic Sans MS" panose="030F0702030302020204" pitchFamily="66" charset="0"/>
            </a:endParaRPr>
          </a:p>
        </p:txBody>
      </p:sp>
      <p:pic>
        <p:nvPicPr>
          <p:cNvPr id="17" name="图片 16" descr="卡通人物&#10;&#10;AI 生成的内容可能不正确。">
            <a:extLst>
              <a:ext uri="{FF2B5EF4-FFF2-40B4-BE49-F238E27FC236}">
                <a16:creationId xmlns:a16="http://schemas.microsoft.com/office/drawing/2014/main" id="{67E67566-7C22-49D1-BB93-DBF816E073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4691" y="-177803"/>
            <a:ext cx="6858000" cy="4753430"/>
          </a:xfrm>
          <a:prstGeom prst="rect">
            <a:avLst/>
          </a:prstGeom>
        </p:spPr>
      </p:pic>
      <p:pic>
        <p:nvPicPr>
          <p:cNvPr id="15" name="图片 14" descr="QR 代码&#10;&#10;AI 生成的内容可能不正确。">
            <a:extLst>
              <a:ext uri="{FF2B5EF4-FFF2-40B4-BE49-F238E27FC236}">
                <a16:creationId xmlns:a16="http://schemas.microsoft.com/office/drawing/2014/main" id="{0B4028E8-BBE6-4294-88E8-A3034DF2F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921" y="145410"/>
            <a:ext cx="3829815" cy="3829815"/>
          </a:xfrm>
          <a:prstGeom prst="rect">
            <a:avLst/>
          </a:prstGeom>
        </p:spPr>
      </p:pic>
      <p:pic>
        <p:nvPicPr>
          <p:cNvPr id="19" name="图片 18" descr="图示&#10;&#10;AI 生成的内容可能不正确。">
            <a:extLst>
              <a:ext uri="{FF2B5EF4-FFF2-40B4-BE49-F238E27FC236}">
                <a16:creationId xmlns:a16="http://schemas.microsoft.com/office/drawing/2014/main" id="{90E64FF3-2674-48A9-83D4-35D3209C5B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4413" y="8492078"/>
            <a:ext cx="11491573" cy="5770757"/>
          </a:xfrm>
          <a:prstGeom prst="rect">
            <a:avLst/>
          </a:prstGeom>
        </p:spPr>
      </p:pic>
      <p:cxnSp>
        <p:nvCxnSpPr>
          <p:cNvPr id="20" name="Straight Connector 8">
            <a:extLst>
              <a:ext uri="{FF2B5EF4-FFF2-40B4-BE49-F238E27FC236}">
                <a16:creationId xmlns:a16="http://schemas.microsoft.com/office/drawing/2014/main" id="{8657DD82-E9BC-488A-B98F-45DB77E520A6}"/>
              </a:ext>
            </a:extLst>
          </p:cNvPr>
          <p:cNvCxnSpPr>
            <a:cxnSpLocks/>
          </p:cNvCxnSpPr>
          <p:nvPr/>
        </p:nvCxnSpPr>
        <p:spPr bwMode="auto">
          <a:xfrm>
            <a:off x="632122" y="14599174"/>
            <a:ext cx="28162364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35D5601-97CF-4255-832D-CC4AC1361967}"/>
              </a:ext>
            </a:extLst>
          </p:cNvPr>
          <p:cNvSpPr txBox="1"/>
          <p:nvPr/>
        </p:nvSpPr>
        <p:spPr>
          <a:xfrm>
            <a:off x="514898" y="8076527"/>
            <a:ext cx="1674048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8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Background &amp; Motivation</a:t>
            </a:r>
            <a:endParaRPr lang="en-US" altLang="zh-CN" sz="4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Mitigating Catastrophic Forgetting: LLMs suffer from catastrophic forgetting during sequential alignment, often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losing previously acquired values when adapting to new domains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Filling the Gap in Lifelong Alignment: Current continual learning research predominantly focuses on continual pre-training(CPT) and continual fine-tuning(CFT),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leaving the critical area of lifelong preference alignment largely unexplored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Unlike simple knowledge injection (SFT), enabling a model to adapt to new preference distributions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compromising its ability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judge old preferences due to parameter updates is a challenging technical problem.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 descr="图形用户界面&#10;&#10;AI 生成的内容可能不正确。">
            <a:extLst>
              <a:ext uri="{FF2B5EF4-FFF2-40B4-BE49-F238E27FC236}">
                <a16:creationId xmlns:a16="http://schemas.microsoft.com/office/drawing/2014/main" id="{08104115-1C99-4D7F-B344-042AF3083F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98" y="15183711"/>
            <a:ext cx="17616122" cy="101654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9850F14-6FAF-489D-9A54-644F8B00F6F2}"/>
                  </a:ext>
                </a:extLst>
              </p:cNvPr>
              <p:cNvSpPr txBox="1"/>
              <p:nvPr/>
            </p:nvSpPr>
            <p:spPr>
              <a:xfrm>
                <a:off x="17993840" y="14935513"/>
                <a:ext cx="10912146" cy="6967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900"/>
                  </a:spcBef>
                </a:pPr>
                <a:r>
                  <a:rPr lang="en-US" altLang="zh-CN" sz="48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Problem Settings</a:t>
                </a:r>
                <a:endParaRPr lang="en-US" altLang="zh-CN" sz="3600" dirty="0">
                  <a:effectLst/>
                  <a:latin typeface="Cambria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-242874" algn="just"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sequence of tasks </a:t>
                </a:r>
                <a14:m>
                  <m:oMath xmlns:m="http://schemas.openxmlformats.org/officeDocument/2006/math"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𝒯</m:t>
                    </m:r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associated preferences </a:t>
                </a:r>
                <a14:m>
                  <m:oMath xmlns:m="http://schemas.openxmlformats.org/officeDocument/2006/math"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At step </a:t>
                </a:r>
                <a14:m>
                  <m:oMath xmlns:m="http://schemas.openxmlformats.org/officeDocument/2006/math"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update the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zh-CN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={(</m:t>
                    </m:r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bSup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bSup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sSubSup>
                      <m:sSubSup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zh-CN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∼</m:t>
                    </m:r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preferred response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indent="-242874" algn="just">
                  <a:spcBef>
                    <a:spcPts val="9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ensure alignment on the current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while preserving performance on all previous tasks </a:t>
                </a:r>
                <a14:m>
                  <m:oMath xmlns:m="http://schemas.openxmlformats.org/officeDocument/2006/math"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maximize the cumulative preference objective: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zh-CN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zh-CN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zh-CN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)∼</m:t>
                            </m:r>
                            <m:sSub>
                              <m:sSubPr>
                                <m:ctrlPr>
                                  <a:rPr lang="zh-CN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zh-CN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zh-CN" sz="360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60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zh-CN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)−</m:t>
                            </m:r>
                            <m:sSub>
                              <m:sSubPr>
                                <m:ctrlPr>
                                  <a:rPr lang="zh-CN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zh-CN" sz="360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60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zh-CN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6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en-US" altLang="zh-CN" sz="3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zh-CN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implicit reward model derived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zh-CN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36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9850F14-6FAF-489D-9A54-644F8B00F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3840" y="14935513"/>
                <a:ext cx="10912146" cy="6967164"/>
              </a:xfrm>
              <a:prstGeom prst="rect">
                <a:avLst/>
              </a:prstGeom>
              <a:blipFill>
                <a:blip r:embed="rId8"/>
                <a:stretch>
                  <a:fillRect l="-2570" r="-2737" b="-1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C25EBEB-B786-41A0-AB99-A011A4B56326}"/>
                  </a:ext>
                </a:extLst>
              </p:cNvPr>
              <p:cNvSpPr txBox="1"/>
              <p:nvPr/>
            </p:nvSpPr>
            <p:spPr>
              <a:xfrm>
                <a:off x="17993840" y="21782425"/>
                <a:ext cx="10912146" cy="3821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900"/>
                  </a:spcBef>
                </a:pPr>
                <a:r>
                  <a:rPr lang="en-US" altLang="zh-CN" sz="4800" b="1" dirty="0">
                    <a:solidFill>
                      <a:schemeClr val="accent1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Metrics</a:t>
                </a:r>
              </a:p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performance on task </a:t>
                </a:r>
                <a14:m>
                  <m:oMath xmlns:m="http://schemas.openxmlformats.org/officeDocument/2006/math">
                    <m:r>
                      <a:rPr lang="en-US" altLang="zh-C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after training to task </a:t>
                </a:r>
                <a14:m>
                  <m:oMath xmlns:m="http://schemas.openxmlformats.org/officeDocument/2006/math">
                    <m:r>
                      <a:rPr lang="en-US" altLang="zh-CN" sz="32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200" dirty="0" err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200" dirty="0" err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3200" dirty="0" err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BWT: backward transfer,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𝐵𝑊𝑇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</m:e>
                    </m:nary>
                  </m:oMath>
                </a14:m>
                <a:endPara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Last: last performance,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𝐿𝑎𝑠𝑡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verage</m:t>
                    </m:r>
                    <m:r>
                      <a:rPr lang="en-US" altLang="zh-CN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erformance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 </m:t>
                    </m:r>
                  </m:oMath>
                </a14:m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C25EBEB-B786-41A0-AB99-A011A4B56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3840" y="21782425"/>
                <a:ext cx="10912146" cy="3821111"/>
              </a:xfrm>
              <a:prstGeom prst="rect">
                <a:avLst/>
              </a:prstGeom>
              <a:blipFill>
                <a:blip r:embed="rId9"/>
                <a:stretch>
                  <a:fillRect l="-2570" b="-1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849F30BC-6DC7-4EA8-9D56-EAFA2C2EF489}"/>
              </a:ext>
            </a:extLst>
          </p:cNvPr>
          <p:cNvSpPr txBox="1"/>
          <p:nvPr/>
        </p:nvSpPr>
        <p:spPr>
          <a:xfrm>
            <a:off x="607351" y="25349198"/>
            <a:ext cx="28187135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en-US" altLang="zh-CN" sz="48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Two Components</a:t>
            </a:r>
            <a:endParaRPr lang="en-US" altLang="zh-CN" sz="36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-242874" algn="just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Focalized Preference Optimization: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core challenges in lifelong alignment is that standard, static loss functions are ill-suited for a dynamic learning process.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extend DPO by gating the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implicit reward difference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mechanism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adaptively amplifies learning signals for new or forgotten samples while silencing the loss for well-mastered ones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thereby preserving model performance.</a:t>
            </a:r>
          </a:p>
          <a:p>
            <a:pPr indent="-242874" algn="just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Short-to-Long Memory Consolidation: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FPO targets specific preferences, raw parameter updates can still trigger forgetting. Inspired by human memory consolidation, we introduce the Short-to-Long Memory Consolidation (SLMC) module to stabilize these transient updates. By refining parameters through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 and projection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SLMC integrates new knowledge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conflicting with established capabilities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robust lifelong alignment.</a:t>
            </a:r>
          </a:p>
        </p:txBody>
      </p:sp>
      <p:cxnSp>
        <p:nvCxnSpPr>
          <p:cNvPr id="32" name="Straight Connector 8">
            <a:extLst>
              <a:ext uri="{FF2B5EF4-FFF2-40B4-BE49-F238E27FC236}">
                <a16:creationId xmlns:a16="http://schemas.microsoft.com/office/drawing/2014/main" id="{1EE2A67C-621B-488E-8A50-3F49EA6306AB}"/>
              </a:ext>
            </a:extLst>
          </p:cNvPr>
          <p:cNvCxnSpPr>
            <a:cxnSpLocks/>
          </p:cNvCxnSpPr>
          <p:nvPr/>
        </p:nvCxnSpPr>
        <p:spPr bwMode="auto">
          <a:xfrm>
            <a:off x="692503" y="30885024"/>
            <a:ext cx="28187135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E03BB437-52C4-43B2-AFDA-3269445999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351" y="32717943"/>
            <a:ext cx="14125382" cy="472921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0F6AFA01-214B-4FD8-BEFC-B6003E7D72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351" y="38391911"/>
            <a:ext cx="7199328" cy="2729717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1893DADC-A048-43CF-82D9-8C941FA2BF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5772" y="37450841"/>
            <a:ext cx="6656058" cy="3645388"/>
          </a:xfrm>
          <a:prstGeom prst="rect">
            <a:avLst/>
          </a:prstGeom>
        </p:spPr>
      </p:pic>
      <p:pic>
        <p:nvPicPr>
          <p:cNvPr id="47" name="图片 46" descr="图表, 折线图&#10;&#10;AI 生成的内容可能不正确。">
            <a:extLst>
              <a:ext uri="{FF2B5EF4-FFF2-40B4-BE49-F238E27FC236}">
                <a16:creationId xmlns:a16="http://schemas.microsoft.com/office/drawing/2014/main" id="{6D9BAA23-1DC0-40BB-8387-6E903D1B095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8865" y="37368987"/>
            <a:ext cx="9278935" cy="3752641"/>
          </a:xfrm>
          <a:prstGeom prst="rect">
            <a:avLst/>
          </a:prstGeom>
        </p:spPr>
      </p:pic>
      <p:pic>
        <p:nvPicPr>
          <p:cNvPr id="49" name="图片 48" descr="图表, 瀑布图&#10;&#10;AI 生成的内容可能不正确。">
            <a:extLst>
              <a:ext uri="{FF2B5EF4-FFF2-40B4-BE49-F238E27FC236}">
                <a16:creationId xmlns:a16="http://schemas.microsoft.com/office/drawing/2014/main" id="{6F459E48-6C09-4A15-ACCF-1FB2A24BA8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4250" y="31936177"/>
            <a:ext cx="9278935" cy="4751016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56345FCB-DC1E-4507-9962-411F4055A013}"/>
              </a:ext>
            </a:extLst>
          </p:cNvPr>
          <p:cNvSpPr txBox="1"/>
          <p:nvPr/>
        </p:nvSpPr>
        <p:spPr>
          <a:xfrm>
            <a:off x="1536692" y="37417485"/>
            <a:ext cx="4745479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B334B7C-DABC-4685-8909-3C08C7C00E89}"/>
              </a:ext>
            </a:extLst>
          </p:cNvPr>
          <p:cNvSpPr txBox="1"/>
          <p:nvPr/>
        </p:nvSpPr>
        <p:spPr>
          <a:xfrm>
            <a:off x="660689" y="31152800"/>
            <a:ext cx="14125382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Performance Comparison with State-of-the-arts:</a:t>
            </a:r>
          </a:p>
          <a:p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LifeAlign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state-of-the-art performance across almost all metrics, with scores rivaling the MTL upper bound.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0690371A-FF50-4DA7-A27A-56DD1FBD7DE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50594" y="31597176"/>
            <a:ext cx="4589840" cy="5013017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3FD3AEDD-5AED-4253-8ADD-D7A6C902AD0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50594" y="36628688"/>
            <a:ext cx="4589839" cy="4826873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572C87C3-B676-4BF2-9BA4-4EBE9AC14E90}"/>
              </a:ext>
            </a:extLst>
          </p:cNvPr>
          <p:cNvSpPr txBox="1"/>
          <p:nvPr/>
        </p:nvSpPr>
        <p:spPr>
          <a:xfrm>
            <a:off x="17414413" y="31044117"/>
            <a:ext cx="4745479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Task Order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E3D5DCA-948B-4D33-BD29-6F6D9A8BD9E6}"/>
              </a:ext>
            </a:extLst>
          </p:cNvPr>
          <p:cNvSpPr txBox="1"/>
          <p:nvPr/>
        </p:nvSpPr>
        <p:spPr>
          <a:xfrm>
            <a:off x="16676277" y="36545235"/>
            <a:ext cx="5984111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Hyperparameters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A0080C9-2FB5-47BE-B1F8-554DF5F3F123}"/>
              </a:ext>
            </a:extLst>
          </p:cNvPr>
          <p:cNvSpPr txBox="1"/>
          <p:nvPr/>
        </p:nvSpPr>
        <p:spPr>
          <a:xfrm>
            <a:off x="24343729" y="30885024"/>
            <a:ext cx="4745479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Performance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37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612</TotalTime>
  <Words>471</Words>
  <Application>Microsoft Office PowerPoint</Application>
  <PresentationFormat>自定义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宋体</vt:lpstr>
      <vt:lpstr>Arial</vt:lpstr>
      <vt:lpstr>Calibri</vt:lpstr>
      <vt:lpstr>Calibri Light</vt:lpstr>
      <vt:lpstr>Cambria</vt:lpstr>
      <vt:lpstr>Cambria Math</vt:lpstr>
      <vt:lpstr>Comic Sans MS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俊松 李</dc:creator>
  <cp:lastModifiedBy>俊松 李</cp:lastModifiedBy>
  <cp:revision>33</cp:revision>
  <dcterms:created xsi:type="dcterms:W3CDTF">2026-01-11T07:00:07Z</dcterms:created>
  <dcterms:modified xsi:type="dcterms:W3CDTF">2026-01-12T14:38:26Z</dcterms:modified>
</cp:coreProperties>
</file>